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96"/>
          <p:cNvSpPr/>
          <p:nvPr/>
        </p:nvSpPr>
        <p:spPr>
          <a:xfrm>
            <a:off x="9800000" y="3599999"/>
            <a:ext cx="3800001" cy="3800002"/>
          </a:xfrm>
          <a:prstGeom prst="ellipse">
            <a:avLst/>
          </a:prstGeom>
          <a:solidFill>
            <a:srgbClr val="14A3A0">
              <a:alpha val="22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Oval 95"/>
          <p:cNvSpPr/>
          <p:nvPr/>
        </p:nvSpPr>
        <p:spPr>
          <a:xfrm>
            <a:off x="8200000" y="-1500001"/>
            <a:ext cx="5600001" cy="5600002"/>
          </a:xfrm>
          <a:prstGeom prst="ellipse">
            <a:avLst/>
          </a:prstGeom>
          <a:solidFill>
            <a:srgbClr val="14A3A0">
              <a:alpha val="35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2"/>
          <p:cNvSpPr txBox="1"/>
          <p:nvPr/>
        </p:nvSpPr>
        <p:spPr>
          <a:xfrm>
            <a:off x="899999" y="2000001"/>
            <a:ext cx="10500002" cy="1223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4000">
                <a:solidFill>
                  <a:srgbClr val="FFFFFF"/>
                </a:solidFill>
              </a:defRPr>
            </a:pPr>
            <a:r>
              <a:t>Mortgage Backed Securities</a:t>
            </a:r>
            <a:br/>
            <a:r>
              <a:t>Prepayment Prediction Using Machine Learning</a:t>
            </a:r>
          </a:p>
        </p:txBody>
      </p:sp>
      <p:sp>
        <p:nvSpPr>
          <p:cNvPr id="97" name="TextBox 3"/>
          <p:cNvSpPr txBox="1"/>
          <p:nvPr/>
        </p:nvSpPr>
        <p:spPr>
          <a:xfrm>
            <a:off x="900000" y="3700001"/>
            <a:ext cx="8500000" cy="1064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900"/>
              </a:spcBef>
              <a:defRPr sz="2000">
                <a:solidFill>
                  <a:srgbClr val="9FE3E0"/>
                </a:solidFill>
              </a:defRPr>
            </a:pPr>
            <a:r>
              <a:t>Project Presentation</a:t>
            </a:r>
          </a:p>
          <a:p>
            <a:pPr>
              <a:spcBef>
                <a:spcPts val="900"/>
              </a:spcBef>
              <a:defRPr sz="2000">
                <a:solidFill>
                  <a:srgbClr val="9FE3E0"/>
                </a:solidFill>
              </a:defRPr>
            </a:pPr>
            <a:r>
              <a:t>Predicting whether a mortgage loan is likely to be prepaid using supervised machine learning</a:t>
            </a:r>
          </a:p>
        </p:txBody>
      </p:sp>
      <p:sp>
        <p:nvSpPr>
          <p:cNvPr id="98" name="Presented by Sanjeev Murthy B             PES1UG24CS612…"/>
          <p:cNvSpPr txBox="1"/>
          <p:nvPr/>
        </p:nvSpPr>
        <p:spPr>
          <a:xfrm>
            <a:off x="5749086" y="5041357"/>
            <a:ext cx="3959867" cy="917286"/>
          </a:xfrm>
          <a:prstGeom prst="rect">
            <a:avLst/>
          </a:prstGeom>
          <a:solidFill>
            <a:srgbClr val="14A3A0">
              <a:alpha val="22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Presented by</a:t>
            </a:r>
            <a:br/>
            <a:r>
              <a:t>Sanjeev Murthy B             PES1UG24CS612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Vishwas R Moodalappa   PES1UG24CS644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98"/>
          <p:cNvSpPr/>
          <p:nvPr/>
        </p:nvSpPr>
        <p:spPr>
          <a:xfrm>
            <a:off x="640080" y="1130000"/>
            <a:ext cx="10881360" cy="405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2"/>
          <p:cNvSpPr txBox="1"/>
          <p:nvPr/>
        </p:nvSpPr>
        <p:spPr>
          <a:xfrm>
            <a:off x="640079" y="300001"/>
            <a:ext cx="2615564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1. Introduction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899999" y="1330001"/>
            <a:ext cx="10500002" cy="3503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Mortgage-backed securities depend on expected cash flows from underlying mortgage loans.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When borrowers repay loans earlier than expected, the timing of cash flows changes.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Predicting mortgage prepayment is therefore useful for understanding prepayment risk.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This project builds a binary classification system for mortgage prepayment prediction.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ounded Rectangle 101"/>
          <p:cNvSpPr/>
          <p:nvPr/>
        </p:nvSpPr>
        <p:spPr>
          <a:xfrm>
            <a:off x="640080" y="1130000"/>
            <a:ext cx="10881360" cy="369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2"/>
          <p:cNvSpPr txBox="1"/>
          <p:nvPr/>
        </p:nvSpPr>
        <p:spPr>
          <a:xfrm>
            <a:off x="640078" y="300001"/>
            <a:ext cx="3786544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2. Problem Statement</a:t>
            </a:r>
          </a:p>
        </p:txBody>
      </p:sp>
      <p:sp>
        <p:nvSpPr>
          <p:cNvPr id="106" name="TextBox 3"/>
          <p:cNvSpPr txBox="1"/>
          <p:nvPr/>
        </p:nvSpPr>
        <p:spPr>
          <a:xfrm>
            <a:off x="899999" y="1330001"/>
            <a:ext cx="10500002" cy="2030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Given mortgage origination characteristics, predict whether a loan is prepaid.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0 → Not prepaid; 1 → Prepaid.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constructed dataset is imbalanced: 18.35% of loans are in the prepaid class.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project therefore emphasizes F1-score rather than accuracy alone.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ounded Rectangle 104"/>
          <p:cNvSpPr/>
          <p:nvPr/>
        </p:nvSpPr>
        <p:spPr>
          <a:xfrm>
            <a:off x="640080" y="1130000"/>
            <a:ext cx="10881360" cy="35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TextBox 2"/>
          <p:cNvSpPr txBox="1"/>
          <p:nvPr/>
        </p:nvSpPr>
        <p:spPr>
          <a:xfrm>
            <a:off x="640078" y="300001"/>
            <a:ext cx="1805939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3. Dataset</a:t>
            </a:r>
          </a:p>
        </p:txBody>
      </p:sp>
      <p:sp>
        <p:nvSpPr>
          <p:cNvPr id="110" name="TextBox 3"/>
          <p:cNvSpPr txBox="1"/>
          <p:nvPr/>
        </p:nvSpPr>
        <p:spPr>
          <a:xfrm>
            <a:off x="899999" y="1330001"/>
            <a:ext cx="10500002" cy="257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Freddie Mac 2024 sample.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Origination data: 50,000 records × 31 columns.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Performance data: 952,865 records × 35 columns.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two datasets are connected using loan_sequence_number.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Final ML dataset: 50,000 loans × 32 columns including the target.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ounded Rectangle 107"/>
          <p:cNvSpPr/>
          <p:nvPr/>
        </p:nvSpPr>
        <p:spPr>
          <a:xfrm>
            <a:off x="640080" y="1130000"/>
            <a:ext cx="10881360" cy="405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2"/>
          <p:cNvSpPr txBox="1"/>
          <p:nvPr/>
        </p:nvSpPr>
        <p:spPr>
          <a:xfrm>
            <a:off x="640078" y="300001"/>
            <a:ext cx="2900124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4. Features Used</a:t>
            </a:r>
          </a:p>
        </p:txBody>
      </p:sp>
      <p:sp>
        <p:nvSpPr>
          <p:cNvPr id="114" name="TextBox 3"/>
          <p:cNvSpPr txBox="1"/>
          <p:nvPr/>
        </p:nvSpPr>
        <p:spPr>
          <a:xfrm>
            <a:off x="899999" y="1330001"/>
            <a:ext cx="10500002" cy="2767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28 input features: 14 numerical and 14 categorical.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Numerical examples: credit score, original CLTV, original DTI, original UPB, original LTV, interest rate, loan term and number of borrowers.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Categorical examples: occupancy status, channel, amortization type, state, property type, loan purpose, seller/servicer and interest-only indicator.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Loan identifiers are excluded from the predictive feature set.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10"/>
          <p:cNvSpPr/>
          <p:nvPr/>
        </p:nvSpPr>
        <p:spPr>
          <a:xfrm>
            <a:off x="640080" y="1130000"/>
            <a:ext cx="10881360" cy="332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2"/>
          <p:cNvSpPr txBox="1"/>
          <p:nvPr/>
        </p:nvSpPr>
        <p:spPr>
          <a:xfrm>
            <a:off x="640079" y="300001"/>
            <a:ext cx="3804204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5. Target Construction</a:t>
            </a:r>
          </a:p>
        </p:txBody>
      </p:sp>
      <p:sp>
        <p:nvSpPr>
          <p:cNvPr id="118" name="TextBox 3"/>
          <p:cNvSpPr txBox="1"/>
          <p:nvPr/>
        </p:nvSpPr>
        <p:spPr>
          <a:xfrm>
            <a:off x="899999" y="1330001"/>
            <a:ext cx="10500002" cy="2399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zero_balance_code = 1 is treated as a prepaid observation.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Performance records are grouped by loan_sequence_number.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maximum prepaid_record value determines whether each loan has a prepaid observation.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Target distribution: 40,823 not prepaid (81.65%) and 9,177 prepaid (18.35%).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ounded Rectangle 113"/>
          <p:cNvSpPr/>
          <p:nvPr/>
        </p:nvSpPr>
        <p:spPr>
          <a:xfrm>
            <a:off x="640080" y="1130000"/>
            <a:ext cx="10881360" cy="332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2"/>
          <p:cNvSpPr txBox="1"/>
          <p:nvPr/>
        </p:nvSpPr>
        <p:spPr>
          <a:xfrm>
            <a:off x="640078" y="300001"/>
            <a:ext cx="5478621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6. Why Class Imbalance Matters</a:t>
            </a:r>
          </a:p>
        </p:txBody>
      </p:sp>
      <p:sp>
        <p:nvSpPr>
          <p:cNvPr id="122" name="TextBox 3"/>
          <p:cNvSpPr txBox="1"/>
          <p:nvPr/>
        </p:nvSpPr>
        <p:spPr>
          <a:xfrm>
            <a:off x="899999" y="1330001"/>
            <a:ext cx="10500002" cy="2030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majority class is 'not prepaid'.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A model could obtain high accuracy by favoring the majority class.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class_weight='balanced' is used for Logistic Regression, SVM and Random Forest.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F1-score is emphasized because it balances precision and recall.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2"/>
          <p:cNvSpPr txBox="1"/>
          <p:nvPr/>
        </p:nvSpPr>
        <p:spPr>
          <a:xfrm>
            <a:off x="640079" y="300001"/>
            <a:ext cx="5283754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7. Train / Validation / Test Split</a:t>
            </a:r>
          </a:p>
        </p:txBody>
      </p:sp>
      <p:graphicFrame>
        <p:nvGraphicFramePr>
          <p:cNvPr id="125" name="Table 3"/>
          <p:cNvGraphicFramePr/>
          <p:nvPr/>
        </p:nvGraphicFramePr>
        <p:xfrm>
          <a:off x="640080" y="1325880"/>
          <a:ext cx="10881360" cy="43891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627120"/>
                <a:gridCol w="3627120"/>
                <a:gridCol w="3627120"/>
              </a:tblGrid>
              <a:tr h="109728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Samples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Training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30,000 (60%)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Fit model parameters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Validation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10,000 (20%)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Tune threshold and select final model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Test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10,000 (20%)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Final evaluation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6" name="TextBox 4"/>
          <p:cNvSpPr txBox="1"/>
          <p:nvPr/>
        </p:nvSpPr>
        <p:spPr>
          <a:xfrm>
            <a:off x="777239" y="5806441"/>
            <a:ext cx="5754349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i="1" sz="1600">
                <a:solidFill>
                  <a:srgbClr val="5B6B82"/>
                </a:solidFill>
              </a:defRPr>
            </a:lvl1pPr>
          </a:lstStyle>
          <a:p>
            <a:pPr/>
            <a:r>
              <a:t>Stratified splitting maintains similar class proportions across subsets.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ounded Rectangle 120"/>
          <p:cNvSpPr/>
          <p:nvPr/>
        </p:nvSpPr>
        <p:spPr>
          <a:xfrm>
            <a:off x="640080" y="1130000"/>
            <a:ext cx="10881360" cy="369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2"/>
          <p:cNvSpPr txBox="1"/>
          <p:nvPr/>
        </p:nvSpPr>
        <p:spPr>
          <a:xfrm>
            <a:off x="640078" y="300001"/>
            <a:ext cx="3739316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8. Data Preprocessing</a:t>
            </a:r>
          </a:p>
        </p:txBody>
      </p:sp>
      <p:sp>
        <p:nvSpPr>
          <p:cNvPr id="130" name="TextBox 3"/>
          <p:cNvSpPr txBox="1"/>
          <p:nvPr/>
        </p:nvSpPr>
        <p:spPr>
          <a:xfrm>
            <a:off x="899999" y="1330001"/>
            <a:ext cx="10500002" cy="2030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Numerical pipeline: median imputation followed by StandardScaler.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Categorical pipeline: most-frequent imputation followed by One-Hot Encoding.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OneHotEncoder uses handle_unknown='ignore'.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ColumnTransformer combines the numerical and categorical transformations.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ounded Rectangle 123"/>
          <p:cNvSpPr/>
          <p:nvPr/>
        </p:nvSpPr>
        <p:spPr>
          <a:xfrm>
            <a:off x="640080" y="1130000"/>
            <a:ext cx="10881360" cy="405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2"/>
          <p:cNvSpPr txBox="1"/>
          <p:nvPr/>
        </p:nvSpPr>
        <p:spPr>
          <a:xfrm>
            <a:off x="640079" y="300001"/>
            <a:ext cx="3939737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9. Why Use a Pipeline?</a:t>
            </a:r>
          </a:p>
        </p:txBody>
      </p:sp>
      <p:sp>
        <p:nvSpPr>
          <p:cNvPr id="134" name="TextBox 3"/>
          <p:cNvSpPr txBox="1"/>
          <p:nvPr/>
        </p:nvSpPr>
        <p:spPr>
          <a:xfrm>
            <a:off x="899999" y="1330001"/>
            <a:ext cx="10500002" cy="2767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Preprocessing and the classifier are combined into a scikit-learn Pipeline.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Preprocessing is fitted on training data rather than on the complete dataset.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This prevents information from validation/test data leaking into training transformations.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same transformation process is automatically reused during validation, testing and deployment.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ounded Rectangle 126"/>
          <p:cNvSpPr/>
          <p:nvPr/>
        </p:nvSpPr>
        <p:spPr>
          <a:xfrm>
            <a:off x="640080" y="1130000"/>
            <a:ext cx="10881360" cy="369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2"/>
          <p:cNvSpPr txBox="1"/>
          <p:nvPr/>
        </p:nvSpPr>
        <p:spPr>
          <a:xfrm>
            <a:off x="640078" y="300001"/>
            <a:ext cx="3884771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10. Logistic Regression</a:t>
            </a:r>
          </a:p>
        </p:txBody>
      </p:sp>
      <p:sp>
        <p:nvSpPr>
          <p:cNvPr id="138" name="TextBox 3"/>
          <p:cNvSpPr txBox="1"/>
          <p:nvPr/>
        </p:nvSpPr>
        <p:spPr>
          <a:xfrm>
            <a:off x="899999" y="1330001"/>
            <a:ext cx="10500002" cy="2030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Binary classification baseline with an interpretable linear decision boundary.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Uses a sigmoid function to map the linear score to a probability.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Implementation: max_iter=1000 and class_weight='balanced'.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Threshold is tuned on the validation set rather than assuming 0.5.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ounded Rectangle 129"/>
          <p:cNvSpPr/>
          <p:nvPr/>
        </p:nvSpPr>
        <p:spPr>
          <a:xfrm>
            <a:off x="640080" y="1130000"/>
            <a:ext cx="10881360" cy="35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2"/>
          <p:cNvSpPr txBox="1"/>
          <p:nvPr/>
        </p:nvSpPr>
        <p:spPr>
          <a:xfrm>
            <a:off x="640079" y="300001"/>
            <a:ext cx="5545890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11. RBF Support Vector Machine</a:t>
            </a:r>
          </a:p>
        </p:txBody>
      </p:sp>
      <p:sp>
        <p:nvSpPr>
          <p:cNvPr id="142" name="TextBox 3"/>
          <p:cNvSpPr txBox="1"/>
          <p:nvPr/>
        </p:nvSpPr>
        <p:spPr>
          <a:xfrm>
            <a:off x="899999" y="1330001"/>
            <a:ext cx="10500002" cy="257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SVM finds a decision boundary with a large margin.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RBF kernel allows nonlinear decision boundaries.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Configuration: C=1.0, gamma='scale', class_weight='balanced'.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probability=False avoids expensive SVC probability calibration.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decision_function scores are used for threshold tuning and ROC-AUC.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ounded Rectangle 132"/>
          <p:cNvSpPr/>
          <p:nvPr/>
        </p:nvSpPr>
        <p:spPr>
          <a:xfrm>
            <a:off x="640080" y="1130000"/>
            <a:ext cx="10881360" cy="2954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2"/>
          <p:cNvSpPr txBox="1"/>
          <p:nvPr/>
        </p:nvSpPr>
        <p:spPr>
          <a:xfrm>
            <a:off x="640078" y="300001"/>
            <a:ext cx="3266043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12. Random Forest</a:t>
            </a:r>
          </a:p>
        </p:txBody>
      </p:sp>
      <p:sp>
        <p:nvSpPr>
          <p:cNvPr id="146" name="TextBox 3"/>
          <p:cNvSpPr txBox="1"/>
          <p:nvPr/>
        </p:nvSpPr>
        <p:spPr>
          <a:xfrm>
            <a:off x="899999" y="1330001"/>
            <a:ext cx="10500002" cy="2399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An ensemble of decision trees.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Captures nonlinear relationships and feature interactions.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Uses 200 trees, max_depth=18, min_samples_leaf=3 and class_weight='balanced'.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ensemble reduces dependence on a single decision tree.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ounded Rectangle 135"/>
          <p:cNvSpPr/>
          <p:nvPr/>
        </p:nvSpPr>
        <p:spPr>
          <a:xfrm>
            <a:off x="640080" y="1130000"/>
            <a:ext cx="10881360" cy="35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TextBox 2"/>
          <p:cNvSpPr txBox="1"/>
          <p:nvPr/>
        </p:nvSpPr>
        <p:spPr>
          <a:xfrm>
            <a:off x="640078" y="300001"/>
            <a:ext cx="5830252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13. Feed-Forward Neural Network</a:t>
            </a:r>
          </a:p>
        </p:txBody>
      </p:sp>
      <p:sp>
        <p:nvSpPr>
          <p:cNvPr id="150" name="TextBox 3"/>
          <p:cNvSpPr txBox="1"/>
          <p:nvPr/>
        </p:nvSpPr>
        <p:spPr>
          <a:xfrm>
            <a:off x="899999" y="1330001"/>
            <a:ext cx="10500002" cy="257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MLP with hidden layers of 64 and 32 neurons.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ReLU activation learns nonlinear representations.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Adam is used for optimization.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Early stopping helps control overfitting and unnecessary training.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same validation-threshold methodology is applied.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ounded Rectangle 138"/>
          <p:cNvSpPr/>
          <p:nvPr/>
        </p:nvSpPr>
        <p:spPr>
          <a:xfrm>
            <a:off x="640080" y="1130000"/>
            <a:ext cx="10881360" cy="3868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2"/>
          <p:cNvSpPr txBox="1"/>
          <p:nvPr/>
        </p:nvSpPr>
        <p:spPr>
          <a:xfrm>
            <a:off x="640078" y="300001"/>
            <a:ext cx="4681696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14. Threshold Optimization</a:t>
            </a:r>
          </a:p>
        </p:txBody>
      </p:sp>
      <p:sp>
        <p:nvSpPr>
          <p:cNvPr id="154" name="TextBox 3"/>
          <p:cNvSpPr txBox="1"/>
          <p:nvPr/>
        </p:nvSpPr>
        <p:spPr>
          <a:xfrm>
            <a:off x="899999" y="1330001"/>
            <a:ext cx="10500002" cy="257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A model score must be converted into class 0 or 1 using a threshold.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project does not assume threshold = 0.5.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Candidate thresholds are evaluated using validation data.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threshold producing the highest validation F1 is selected for each model.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test set is never used for threshold tuning.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2"/>
          <p:cNvSpPr txBox="1"/>
          <p:nvPr/>
        </p:nvSpPr>
        <p:spPr>
          <a:xfrm>
            <a:off x="640078" y="300001"/>
            <a:ext cx="5255180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15. Validation Model Selection</a:t>
            </a:r>
          </a:p>
        </p:txBody>
      </p:sp>
      <p:graphicFrame>
        <p:nvGraphicFramePr>
          <p:cNvPr id="157" name="Table 3"/>
          <p:cNvGraphicFramePr/>
          <p:nvPr/>
        </p:nvGraphicFramePr>
        <p:xfrm>
          <a:off x="640080" y="1325880"/>
          <a:ext cx="10881360" cy="43891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627120"/>
                <a:gridCol w="3627120"/>
                <a:gridCol w="3627120"/>
              </a:tblGrid>
              <a:tr h="87782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Validation F1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Best Threshold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RBF SVM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0.4304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0.3167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Neural Network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0.4294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0.2230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Logistic Regression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0.4281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0.5461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Random Forest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0.4194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0.4762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  <p:sp>
        <p:nvSpPr>
          <p:cNvPr id="158" name="TextBox 4"/>
          <p:cNvSpPr txBox="1"/>
          <p:nvPr/>
        </p:nvSpPr>
        <p:spPr>
          <a:xfrm>
            <a:off x="777239" y="5806441"/>
            <a:ext cx="5065473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i="1" sz="1600">
                <a:solidFill>
                  <a:srgbClr val="5B6B82"/>
                </a:solidFill>
              </a:defRPr>
            </a:lvl1pPr>
          </a:lstStyle>
          <a:p>
            <a:pPr/>
            <a:r>
              <a:t>RBF SVM is selected because it has the highest validation F1.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ounded Rectangle 145"/>
          <p:cNvSpPr/>
          <p:nvPr/>
        </p:nvSpPr>
        <p:spPr>
          <a:xfrm>
            <a:off x="640080" y="1130000"/>
            <a:ext cx="10881360" cy="423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2"/>
          <p:cNvSpPr txBox="1"/>
          <p:nvPr/>
        </p:nvSpPr>
        <p:spPr>
          <a:xfrm>
            <a:off x="640078" y="300001"/>
            <a:ext cx="6289238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16. Why SVM Is the Best Model Here</a:t>
            </a:r>
          </a:p>
        </p:txBody>
      </p:sp>
      <p:sp>
        <p:nvSpPr>
          <p:cNvPr id="162" name="TextBox 3"/>
          <p:cNvSpPr txBox="1"/>
          <p:nvPr/>
        </p:nvSpPr>
        <p:spPr>
          <a:xfrm>
            <a:off x="899999" y="1330001"/>
            <a:ext cx="10500002" cy="2945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RBF SVM has the highest validation F1: 0.4304.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Neural Network is very close at 0.4294, followed by Logistic Regression at 0.4281.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Random Forest has the lowest validation F1 among the four at 0.4194.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Therefore, SVM is selected based on validation evidence—not because SVM is always the best algorithm.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Selected threshold: 0.3167.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2"/>
          <p:cNvSpPr txBox="1"/>
          <p:nvPr/>
        </p:nvSpPr>
        <p:spPr>
          <a:xfrm>
            <a:off x="640078" y="300001"/>
            <a:ext cx="4234021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17. Final Test-Set Results</a:t>
            </a:r>
          </a:p>
        </p:txBody>
      </p:sp>
      <p:graphicFrame>
        <p:nvGraphicFramePr>
          <p:cNvPr id="165" name="Table 3"/>
          <p:cNvGraphicFramePr/>
          <p:nvPr/>
        </p:nvGraphicFramePr>
        <p:xfrm>
          <a:off x="640080" y="1325880"/>
          <a:ext cx="10881360" cy="43891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87782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Logistic Regression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0.5461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0.7095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0.3389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0.6131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0.4365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0.7375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RBF SVM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0.3167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0.7475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0.3722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0.5477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0.4432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0.7393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Random Forest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0.4762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0.7529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0.3725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0.5063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0.4292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0.7345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Neural Network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0.2230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0.7327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0.3554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0.5613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0.4352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0.7349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ounded Rectangle 151"/>
          <p:cNvSpPr/>
          <p:nvPr/>
        </p:nvSpPr>
        <p:spPr>
          <a:xfrm>
            <a:off x="640080" y="1130000"/>
            <a:ext cx="10881360" cy="367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2"/>
          <p:cNvSpPr txBox="1"/>
          <p:nvPr/>
        </p:nvSpPr>
        <p:spPr>
          <a:xfrm>
            <a:off x="640078" y="300001"/>
            <a:ext cx="5424249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18. Final RBF-SVM Performance</a:t>
            </a:r>
          </a:p>
        </p:txBody>
      </p:sp>
      <p:sp>
        <p:nvSpPr>
          <p:cNvPr id="169" name="TextBox 3"/>
          <p:cNvSpPr txBox="1"/>
          <p:nvPr/>
        </p:nvSpPr>
        <p:spPr>
          <a:xfrm>
            <a:off x="899999" y="1330001"/>
            <a:ext cx="10500002" cy="3122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Selected model: RBF SVM.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Test Accuracy: 74.75%.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Test Precision: 37.22%.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Test Recall: 54.77%.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Test F1-score: 44.32%.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Test ROC-AUC: 0.7393.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2"/>
          <p:cNvSpPr txBox="1"/>
          <p:nvPr/>
        </p:nvSpPr>
        <p:spPr>
          <a:xfrm>
            <a:off x="640078" y="300001"/>
            <a:ext cx="3627000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19. Confusion Matrix</a:t>
            </a:r>
          </a:p>
        </p:txBody>
      </p:sp>
      <p:graphicFrame>
        <p:nvGraphicFramePr>
          <p:cNvPr id="172" name="Table 3"/>
          <p:cNvGraphicFramePr/>
          <p:nvPr/>
        </p:nvGraphicFramePr>
        <p:xfrm>
          <a:off x="640080" y="1325880"/>
          <a:ext cx="10881360" cy="43891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627120"/>
                <a:gridCol w="3627120"/>
                <a:gridCol w="3627120"/>
              </a:tblGrid>
              <a:tr h="1463040"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Predicted Not Prepaid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Predicted Prepaid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12284C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Actual Not Prepaid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6,470 (TN)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1,695 (FP)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22304A"/>
                          </a:solidFill>
                        </a:rPr>
                        <a:t>Actual Prepaid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830 (FN)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22304A"/>
                          </a:solidFill>
                        </a:rPr>
                        <a:t>1,005 (TP)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C9D8E4"/>
                      </a:solidFill>
                    </a:lnL>
                    <a:lnR>
                      <a:solidFill>
                        <a:srgbClr val="C9D8E4"/>
                      </a:solidFill>
                    </a:lnR>
                    <a:lnT>
                      <a:solidFill>
                        <a:srgbClr val="C9D8E4"/>
                      </a:solidFill>
                    </a:lnT>
                    <a:lnB>
                      <a:solidFill>
                        <a:srgbClr val="C9D8E4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  <p:sp>
        <p:nvSpPr>
          <p:cNvPr id="173" name="TextBox 4"/>
          <p:cNvSpPr txBox="1"/>
          <p:nvPr/>
        </p:nvSpPr>
        <p:spPr>
          <a:xfrm>
            <a:off x="777238" y="5806441"/>
            <a:ext cx="5836205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i="1" sz="1600">
                <a:solidFill>
                  <a:srgbClr val="5B6B82"/>
                </a:solidFill>
              </a:defRPr>
            </a:lvl1pPr>
          </a:lstStyle>
          <a:p>
            <a:pPr/>
            <a:r>
              <a:t>The model correctly identifies 1,005 of the 1,835 actual prepaid loans.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ounded Rectangle 158"/>
          <p:cNvSpPr/>
          <p:nvPr/>
        </p:nvSpPr>
        <p:spPr>
          <a:xfrm>
            <a:off x="640080" y="1130000"/>
            <a:ext cx="10881360" cy="369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2"/>
          <p:cNvSpPr txBox="1"/>
          <p:nvPr/>
        </p:nvSpPr>
        <p:spPr>
          <a:xfrm>
            <a:off x="640078" y="300001"/>
            <a:ext cx="4693205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20. Interpreting the Results</a:t>
            </a:r>
          </a:p>
        </p:txBody>
      </p:sp>
      <p:sp>
        <p:nvSpPr>
          <p:cNvPr id="177" name="TextBox 3"/>
          <p:cNvSpPr txBox="1"/>
          <p:nvPr/>
        </p:nvSpPr>
        <p:spPr>
          <a:xfrm>
            <a:off x="899999" y="1330001"/>
            <a:ext cx="10500002" cy="3135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Random Forest has the highest test accuracy (75.29%), but it was not selected because selection is based on validation F1.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RBF SVM has the highest test F1 (44.32%) among the four models.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Logistic Regression has the highest test recall (61.31%), but lower precision and F1 than SVM.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This shows why accuracy alone is not sufficient for this imbalanced classification task.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ounded Rectangle 161"/>
          <p:cNvSpPr/>
          <p:nvPr/>
        </p:nvSpPr>
        <p:spPr>
          <a:xfrm>
            <a:off x="640080" y="1130000"/>
            <a:ext cx="10881360" cy="404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2"/>
          <p:cNvSpPr txBox="1"/>
          <p:nvPr/>
        </p:nvSpPr>
        <p:spPr>
          <a:xfrm>
            <a:off x="640078" y="300001"/>
            <a:ext cx="5746511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21. Leakage-Safe Model Selection</a:t>
            </a:r>
          </a:p>
        </p:txBody>
      </p:sp>
      <p:sp>
        <p:nvSpPr>
          <p:cNvPr id="181" name="TextBox 3"/>
          <p:cNvSpPr txBox="1"/>
          <p:nvPr/>
        </p:nvSpPr>
        <p:spPr>
          <a:xfrm>
            <a:off x="899999" y="1330001"/>
            <a:ext cx="10500002" cy="3122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Train all four models on the training set.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Tune each threshold using validation data.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Compare validation F1 scores.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Select RBF SVM and threshold 0.3167.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Apply the selected model and threshold once to the unseen test set.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Report test metrics only after selection is complete.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ounded Rectangle 164"/>
          <p:cNvSpPr/>
          <p:nvPr/>
        </p:nvSpPr>
        <p:spPr>
          <a:xfrm>
            <a:off x="640080" y="1130000"/>
            <a:ext cx="10881360" cy="423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2"/>
          <p:cNvSpPr txBox="1"/>
          <p:nvPr/>
        </p:nvSpPr>
        <p:spPr>
          <a:xfrm>
            <a:off x="640079" y="300001"/>
            <a:ext cx="5661778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22. Saved Model and Verification</a:t>
            </a:r>
          </a:p>
        </p:txBody>
      </p:sp>
      <p:sp>
        <p:nvSpPr>
          <p:cNvPr id="185" name="TextBox 3"/>
          <p:cNvSpPr txBox="1"/>
          <p:nvPr/>
        </p:nvSpPr>
        <p:spPr>
          <a:xfrm>
            <a:off x="899999" y="1330001"/>
            <a:ext cx="10500002" cy="2945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mortgage_prepayment_final.pkl → final trained model.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final_threshold.pkl → selected threshold.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final_model_metadata.pkl → model name, threshold, dataset and selection metric.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notebook reloads the saved model and reproduces test F1 = 0.4432.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This confirms the saved model can reproduce the original final result.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ounded Rectangle 167"/>
          <p:cNvSpPr/>
          <p:nvPr/>
        </p:nvSpPr>
        <p:spPr>
          <a:xfrm>
            <a:off x="640080" y="1130000"/>
            <a:ext cx="10881360" cy="205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2"/>
          <p:cNvSpPr txBox="1"/>
          <p:nvPr/>
        </p:nvSpPr>
        <p:spPr>
          <a:xfrm>
            <a:off x="640079" y="300001"/>
            <a:ext cx="4092137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23. Complete Workflow</a:t>
            </a:r>
          </a:p>
        </p:txBody>
      </p:sp>
      <p:sp>
        <p:nvSpPr>
          <p:cNvPr id="189" name="TextBox 3"/>
          <p:cNvSpPr txBox="1"/>
          <p:nvPr/>
        </p:nvSpPr>
        <p:spPr>
          <a:xfrm>
            <a:off x="899999" y="1330001"/>
            <a:ext cx="10500002" cy="1497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lvl1pPr>
          </a:lstStyle>
          <a:p>
            <a:pPr/>
            <a:r>
              <a:t>Raw Freddie Mac 2024 data → construct prepaid target → select 28 features → impute/encode/scale → 60/20/20 stratified split → train LR/SVM/RF/MLP → tune thresholds on validation → select highest validation F1 → evaluate on test → save model and threshold.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ounded Rectangle 170"/>
          <p:cNvSpPr/>
          <p:nvPr/>
        </p:nvSpPr>
        <p:spPr>
          <a:xfrm>
            <a:off x="640080" y="1130000"/>
            <a:ext cx="10881360" cy="5151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2"/>
          <p:cNvSpPr txBox="1"/>
          <p:nvPr/>
        </p:nvSpPr>
        <p:spPr>
          <a:xfrm>
            <a:off x="640078" y="300001"/>
            <a:ext cx="7164347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24. Comparison With the Reference Paper</a:t>
            </a:r>
          </a:p>
        </p:txBody>
      </p:sp>
      <p:sp>
        <p:nvSpPr>
          <p:cNvPr id="193" name="TextBox 3"/>
          <p:cNvSpPr txBox="1"/>
          <p:nvPr/>
        </p:nvSpPr>
        <p:spPr>
          <a:xfrm>
            <a:off x="899999" y="1330001"/>
            <a:ext cx="10500002" cy="385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This work should be described as an extension rather than a direct accuracy comparison.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dataset period/sample and experimental setup differ from the reference paper.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This project adds Random Forest to the model comparison.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It explicitly handles class imbalance with balanced class weights.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It uses validation-based threshold tuning and leakage-safe model selection.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It saves the final model and threshold for deployment.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ounded Rectangle 173"/>
          <p:cNvSpPr/>
          <p:nvPr/>
        </p:nvSpPr>
        <p:spPr>
          <a:xfrm>
            <a:off x="640080" y="1130000"/>
            <a:ext cx="10881360" cy="369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2"/>
          <p:cNvSpPr txBox="1"/>
          <p:nvPr/>
        </p:nvSpPr>
        <p:spPr>
          <a:xfrm>
            <a:off x="640078" y="300001"/>
            <a:ext cx="2591752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25. Limitations</a:t>
            </a:r>
          </a:p>
        </p:txBody>
      </p:sp>
      <p:sp>
        <p:nvSpPr>
          <p:cNvPr id="197" name="TextBox 3"/>
          <p:cNvSpPr txBox="1"/>
          <p:nvPr/>
        </p:nvSpPr>
        <p:spPr>
          <a:xfrm>
            <a:off x="899999" y="1330001"/>
            <a:ext cx="10500002" cy="2399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experiment uses a 50,000-loan sample.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current feature set is primarily based on loan origination characteristics.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Validation F1 values are close, so the margin between the top models is small.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target is treated as a binary outcome rather than a detailed time-to-event/survival prediction.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ounded Rectangle 176"/>
          <p:cNvSpPr/>
          <p:nvPr/>
        </p:nvSpPr>
        <p:spPr>
          <a:xfrm>
            <a:off x="640080" y="1130000"/>
            <a:ext cx="10881360" cy="31321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2"/>
          <p:cNvSpPr txBox="1"/>
          <p:nvPr/>
        </p:nvSpPr>
        <p:spPr>
          <a:xfrm>
            <a:off x="640079" y="300001"/>
            <a:ext cx="2917784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26. Future Scope</a:t>
            </a:r>
          </a:p>
        </p:txBody>
      </p:sp>
      <p:sp>
        <p:nvSpPr>
          <p:cNvPr id="201" name="TextBox 3"/>
          <p:cNvSpPr txBox="1"/>
          <p:nvPr/>
        </p:nvSpPr>
        <p:spPr>
          <a:xfrm>
            <a:off x="899999" y="1330001"/>
            <a:ext cx="10500002" cy="257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Add richer temporal and macroeconomic variables.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Evaluate temporal generalization on later loan vintages.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Perform systematic hyperparameter optimization.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Investigate calibrated probabilities where required.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Deploy the saved model through the Streamlit application.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ounded Rectangle 179"/>
          <p:cNvSpPr/>
          <p:nvPr/>
        </p:nvSpPr>
        <p:spPr>
          <a:xfrm>
            <a:off x="640080" y="1130000"/>
            <a:ext cx="10881360" cy="5151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C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2"/>
          <p:cNvSpPr txBox="1"/>
          <p:nvPr/>
        </p:nvSpPr>
        <p:spPr>
          <a:xfrm>
            <a:off x="640079" y="300001"/>
            <a:ext cx="2554643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200">
                <a:solidFill>
                  <a:srgbClr val="12284C"/>
                </a:solidFill>
              </a:defRPr>
            </a:lvl1pPr>
          </a:lstStyle>
          <a:p>
            <a:pPr/>
            <a:r>
              <a:t>27. Conclusion</a:t>
            </a:r>
          </a:p>
        </p:txBody>
      </p:sp>
      <p:sp>
        <p:nvSpPr>
          <p:cNvPr id="205" name="TextBox 3"/>
          <p:cNvSpPr txBox="1"/>
          <p:nvPr/>
        </p:nvSpPr>
        <p:spPr>
          <a:xfrm>
            <a:off x="899999" y="1330001"/>
            <a:ext cx="10500002" cy="349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project builds an end-to-end mortgage prepayment classification pipeline.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Four ML models are compared under a common preprocessing and evaluation framework.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Validation F1 is used for threshold optimization and model selection.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RBF SVM is selected with validation F1 = 0.4304 and threshold = 0.3167.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Final test performance: F1 = 0.4432 and ROC-AUC = 0.7393.</a:t>
            </a:r>
          </a:p>
          <a:p>
            <a:pPr marL="342900" indent="-342900">
              <a:spcBef>
                <a:spcPts val="1400"/>
              </a:spcBef>
              <a:buClr>
                <a:srgbClr val="14A3A0"/>
              </a:buClr>
              <a:buSzPct val="100000"/>
              <a:buFont typeface="Arial"/>
              <a:buChar char="•"/>
              <a:defRPr sz="2400">
                <a:solidFill>
                  <a:srgbClr val="22304A"/>
                </a:solidFill>
              </a:defRPr>
            </a:pPr>
            <a:r>
              <a:t>The model, threshold and metadata are saved for deployment.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Oval 183"/>
          <p:cNvSpPr/>
          <p:nvPr/>
        </p:nvSpPr>
        <p:spPr>
          <a:xfrm>
            <a:off x="9800000" y="3599999"/>
            <a:ext cx="3800001" cy="3800002"/>
          </a:xfrm>
          <a:prstGeom prst="ellipse">
            <a:avLst/>
          </a:prstGeom>
          <a:solidFill>
            <a:srgbClr val="14A3A0">
              <a:alpha val="22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Oval 182"/>
          <p:cNvSpPr/>
          <p:nvPr/>
        </p:nvSpPr>
        <p:spPr>
          <a:xfrm>
            <a:off x="8200000" y="-1500001"/>
            <a:ext cx="5600001" cy="5600002"/>
          </a:xfrm>
          <a:prstGeom prst="ellipse">
            <a:avLst/>
          </a:prstGeom>
          <a:solidFill>
            <a:srgbClr val="14A3A0">
              <a:alpha val="35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2"/>
          <p:cNvSpPr txBox="1"/>
          <p:nvPr/>
        </p:nvSpPr>
        <p:spPr>
          <a:xfrm>
            <a:off x="899999" y="2300000"/>
            <a:ext cx="10500002" cy="601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